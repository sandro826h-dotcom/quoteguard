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一句话介绍：帮中国跨境卖家审计美国头程物流报价，把报价折算成可比的到仓成本，找出隐性费用和包税风险，信息不足时生成追问清单。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先给结论数字，后面各页依次给出依据。效果格的措辞按第 16、18 页最终选定的写法同步。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卖家现在的做法是把这些报价贴给通用大模型问“哪家划算”，这正是本项目的对照组 M0。左图为演示系统的报价输入页，报价为开发集合成示例。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纠纷的主要对象是运费本身，目的地以美国为主，所以选美国头程报价作为切入点。来源：宁波海事法院白皮书（2024-11）；CBP 征税数据（supplychain247 报道）；雨果网卖家案例。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税率每次变化，包税报价的成本底线随之变化。系统把税率做成带日期的参数快照，按报价日期选用；这也是第 9 页包税合理性判定的依据。税率与日期以 USITC HTS 2026 Rev 20 与 Federal Register 原文为准。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结构化运价平台把包税条款留在自由文本里；CostClaw 面向英文海运进口商；通用大模型能读中文报价，但给不出可核对的计算和出处。需求证据来自司法统计、海关数据、政策原文、真实报价与工具对照五类，没有用问卷和访谈。表中只写已核实的定位，来源见方案“来源”一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灰底的三个模块调用大模型：视觉转写、字段抽取、跨模型复核；其余全部是确定性程序。这样分工的原因：成本和合规判定要能复算，交给程序；条款理解交给大模型，并用出处核对和复核约束它。税率、汇率、承运商规则、登记库都是带日期的快照，可以替换。数据合规：报价不含个人信息；模型接口可换成国内服务商或本地部署模型；评测数据中货代名称匿名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出处让卖家和评委都能逐条核对；复核把“模型漏看”转成可检出的冲突。复核复用对方配置已有的抽取，不另发请求。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系统只标出不一致之处和应索要的单证，不判定货代违法。核价由 Python 引擎与 Excel 公式（LibreOffice 重算）两套独立实现交叉核对。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通用大模型面对信息不足的报价通常仍会给出一个选择；拒答质量和误拒率在第 16 页单独报告。右图为演示系统案例 A 的决策护照：报价 4 的整票最低计费重前后不一致，取值会改变最优选择，系统输出追问。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决策类成效来自合成任务，在结果页标为“合成任务估算”；真实报价集补上真实场景下的抽取证据。测试集在 M0–M4 提示词与冻结协议定稿后以种子 20261011 生成并记录哈希，生成后不查看金标签调整任何方法。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原规范要求两名标注人从头人工标注，实际改为模型初标加人工全量审定，见偏离记录第 1 条（docs/protocol/偏离记录.md）；金标签以人工全量审定为准。两份初标之间的一致率不上页面，它反映的是模型初标之间的一致性，与人工标注一致性含义不同。全部标签记录哈希之后才运行模型。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与 M4 拿到同样的检查清单、参数快照和同样轮数的提示词调试，两者只差架构，用来回答“只改提示词够不够”。M0–M4 的提示词在测试集生成前冻结。选型依据：都是国内服务商接口；强、低两档按厂商配对，用于主终点 3；GLM-5.3 与 Kimi-K2.6 扩大强模型档覆盖面并互为复核方。GLM-5.3 不能关闭思考，用最小思考预算并单独注明。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结果出来后按事前决策规则收窄或调整主张，不临时改主线；规则表在备用页 B3。每次调用记录模型、参数、提示词哈希、随机种子与原始响应；调用失败一律按错误计，不从分母中剔除。冻结后的全部偏离逐条列在 docs/protocol/偏离记录.md（共 9 条）；其中 DeepSeek-Flash 思考组全部失败（第 8 条）与硅基流动停批续跑（第 9 条）直接影响结果页的分母说明。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每个工作块都有提交记录与日志，正式实验按冻结协议的命令序列执行，原始记录不手工改动。排期为北京时间，定稿前按 PROJECT_LOG 与提交记录核对。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标题写法：主终点 1 显著时写“完整系统把决策正确率从（M0）提高到（M4）（非显式三层，6 个配置合并）”；不显著时写“决策正确率差异未达显著，系统增量集中在风险识别与追问”，并照实报告各层正确率。若 M0 在显式层正确率 ≥ 90%：本页主图只放隐含、冲突、信息不足三层，显式层移到备用页；第 19 页真实报价集结果提前到本页之后。强调信息不足层的正确拒答率与非决定性任务上的误拒率同时报告。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标题写法：主终点 2 显著时写“完整系统的风险检出 micro-F1 为（M4），M0 为（M0）”；不显著时写“风险检出差异未达显著”，做错误类型分析，主张收窄为核价与决策。若 M4 风险标记精确率 &lt; 0.7：加一个精确率与召回率权衡的小图，说明阈值选择依据。讲稿：从测试集原始记录中选一例资质宣称的判定，对比 M0 与 M4 的输出，注明任务编号与配置。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写法：达到非劣效时写“低成本模型加完整系统，决策正确率不低于强模型直接使用，每次审计成本为（元）”；未达到时写“按每个正确决策的调用成本比较”，照实报告两档的正确率与成本。每百票多付金额 =（M0 平均决策遗憾 − M4 平均决策遗憾）× 100，遗憾均值只计正确答案为推荐、且方法选中可行集内报价的任务，页面注明任务数，可行集外选择比例另列。千问按官方标价折算，单独标注。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标题写法：字段准确率 ≥ 0.8 时写“真实报价上的字段准确率为（值），出处准确率为（值）”；&lt; 0.8 时写“真实报价的字段准确率为（值），主要错误集中在（条款）”，并把错误类型作为改进方向。真实单元的原文不进入任何提示词或词表；这一页是对合成任务结果的外部检验。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M1 对 M0：只改提示词的作用；M2 对 M1：程序核价替代模型自算（同时改为逐份抽取，提示词中不再给规则）；M3 对 M2：门控的作用；M4 对 M3：出处、复核与追问的作用。若 M4 对 M2 的核价绝对误差差值的 95% CI 包含 0，写“核价改进有限，系统增量来自风险识别与追问”。若 deepseek-flash 开启思考的 M1 点估计 ≥ 同模型 M4，照实报告，主张改为 M4 在成本、时延与可核对出处上的优势。回答“这不就是运费计算器吗”：计算器只是 M2。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结束语回到第 2 页的一句话结论。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答辩追问时调出。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选旅行袋（4202.92.3131）而不选双肩包：常见尺寸的化纤双肩包（4202.92.3120）在 2026-11-09 前排除原 301 清单 3 关税，税率随尺寸变化；4202.92.3131 没有现行排除项。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定稿时标出本次实际触发的行。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千问使用免费额度，费用按官方标价折算，单独列示。数据取自 runs/spend_ledger.jsonl。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六张截图依次为报价输入、抽取与出处、冲突与缺口、包税风险与资质证据、到仓成本对比、决策护照与追问清单。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2024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54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运价明镜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803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跨境头程报价智能审计　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49039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把美国头程报价折算成可比的到仓成本，找出隐性费用与包税风险，信息不足时生成追问清单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5780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第八届全球校园人工智能算法精英大赛　算法主题赛“AI+跨境电商”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参赛团队编号：〔报名后填写〕　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一页看懂：问题、方案、效果、应用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410047" cy="2377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528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495284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头程报价的计泡口径、不含项目、包税范围散落在正文、脚注和图片里，卖家难以比较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宁波海事法院 400 件跨境电商物流案件中，代理运费争议占 79.3%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325880"/>
            <a:ext cx="5410047" cy="2377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508760"/>
            <a:ext cx="49528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1984248"/>
            <a:ext cx="495284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大模型逐份抽取条款并标出原文出处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程序核价，判定包税合理性与资质证据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信息不足时不推荐，生成追问清单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39"/>
            <a:ext cx="5410047" cy="2377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49528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效果（对比卖家现在的做法 M0）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495284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决策正确率提升　</a:t>
            </a:r>
            <a:r>
              <a:rPr sz="16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风险检出 micro-F1 差值　</a:t>
            </a:r>
            <a:r>
              <a:rPr sz="16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每次审计调用成本　</a:t>
            </a:r>
            <a:r>
              <a:rPr sz="16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7" y="3977639"/>
            <a:ext cx="5410047" cy="23774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4160520"/>
            <a:ext cx="49528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4636007"/>
            <a:ext cx="4952847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独立审计工具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卖家 ERP 插件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货代比价平台的审核模块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同一票货，几份报价没法直接比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合成示例　3</a:t>
            </a:r>
          </a:p>
        </p:txBody>
      </p:sp>
      <p:pic>
        <p:nvPicPr>
          <p:cNvPr id="5" name="Picture 4" descr="01-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583680" cy="41148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532120"/>
            <a:ext cx="6583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演示系统报价输入页（开发集合成示例）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258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1371600"/>
            <a:ext cx="35963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计泡口径不一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828800"/>
            <a:ext cx="3596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货代空派、海派按 ÷6000，快递按 ÷5000 或 139 in³/lb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7432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2788920"/>
            <a:ext cx="35963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不含项目藏在脚注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3246120"/>
            <a:ext cx="3596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查验费、滞港费、私人住宅派送费、高货值加价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16052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9" y="4206240"/>
            <a:ext cx="359633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包税口径模糊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663440"/>
            <a:ext cx="35963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正文写“双清包税”，备注写“关税实报实销”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纠纷集中在运费，执法在收紧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515258" cy="4206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45920"/>
            <a:ext cx="29666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79.3%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代理运费争议占比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54680"/>
            <a:ext cx="29666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宁波海事法院 2021 年至 2024 年 6 月结案的 400 件跨境电商物流案件（标的额 1.58 亿元）中，代理运费是最主要的争议焦点；目的港为美国的占 74.5%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8218" y="1417320"/>
            <a:ext cx="3515258" cy="4206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2538" y="1645920"/>
            <a:ext cx="29666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52.2%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此类案件占比上升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2538" y="3154680"/>
            <a:ext cx="29666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跨境电商物流案件在货代与多式联运案件中的占比，从 9.8% 升到 52.2%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1417320"/>
            <a:ext cx="3515258" cy="420624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02116" y="1645920"/>
            <a:ext cx="296661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2.46 亿件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2606040"/>
            <a:ext cx="296661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原免税小包已被征税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2116" y="3154680"/>
            <a:ext cx="2966618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截至 2025-12，CBP 已对 2.46 亿多件原免税小包征税超过 10 亿美元；2026 年卖家社区报道 5H、9H 扣货与低申报补单证案例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来源：宁波海事法院跨境电商物流纠纷白皮书（2024-11）；CBP 公布数据；雨果网卖家案例报道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2025–2026 年美国进口规则多次变化，报价口径随之混乱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59" y="3566160"/>
            <a:ext cx="10545776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40664" y="3483864"/>
            <a:ext cx="164592" cy="1645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2025-08-29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暂停所有国家的小额豁免</a:t>
            </a:r>
          </a:p>
        </p:txBody>
      </p:sp>
      <p:sp>
        <p:nvSpPr>
          <p:cNvPr id="9" name="Oval 8"/>
          <p:cNvSpPr/>
          <p:nvPr/>
        </p:nvSpPr>
        <p:spPr>
          <a:xfrm>
            <a:off x="2849819" y="3483864"/>
            <a:ext cx="164592" cy="1645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80555" y="3886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2026-02-20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0555" y="42519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最高法院判定 IEEPA 关税无效，02-24 起停征</a:t>
            </a:r>
          </a:p>
        </p:txBody>
      </p:sp>
      <p:sp>
        <p:nvSpPr>
          <p:cNvPr id="12" name="Oval 11"/>
          <p:cNvSpPr/>
          <p:nvPr/>
        </p:nvSpPr>
        <p:spPr>
          <a:xfrm>
            <a:off x="4958974" y="3483864"/>
            <a:ext cx="164592" cy="1645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89710" y="1600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2026-02-24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9710" y="19659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第 122 条临时关税 10%，至 07-23 到期</a:t>
            </a:r>
          </a:p>
        </p:txBody>
      </p:sp>
      <p:sp>
        <p:nvSpPr>
          <p:cNvPr id="15" name="Oval 14"/>
          <p:cNvSpPr/>
          <p:nvPr/>
        </p:nvSpPr>
        <p:spPr>
          <a:xfrm>
            <a:off x="7068129" y="3483864"/>
            <a:ext cx="164592" cy="164592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8865" y="3886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2026-07-24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8865" y="42519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新 301 关税对华加征 12.5%，与原 301 叠加</a:t>
            </a:r>
          </a:p>
        </p:txBody>
      </p:sp>
      <p:sp>
        <p:nvSpPr>
          <p:cNvPr id="18" name="Oval 17"/>
          <p:cNvSpPr/>
          <p:nvPr/>
        </p:nvSpPr>
        <p:spPr>
          <a:xfrm>
            <a:off x="9177284" y="3483864"/>
            <a:ext cx="164592" cy="1645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8020" y="1600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2026-10-08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8020" y="19659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CBP 发布 Low-Value Shipments 拟议规则</a:t>
            </a:r>
          </a:p>
        </p:txBody>
      </p:sp>
      <p:sp>
        <p:nvSpPr>
          <p:cNvPr id="21" name="Oval 20"/>
          <p:cNvSpPr/>
          <p:nvPr/>
        </p:nvSpPr>
        <p:spPr>
          <a:xfrm>
            <a:off x="11286439" y="3483864"/>
            <a:ext cx="164592" cy="1645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9935" y="3886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2027-07-01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9935" y="4251960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小额豁免在法律上永久废除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来源：USITC HTS 2026 Rev 20；91 FR 9339、91 FR 47318、91 FR 64532；白宫 2026-02 总统令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现有工具没有覆盖中文非结构化报价的审计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3401568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291840"/>
                <a:gridCol w="3108960"/>
                <a:gridCol w="469361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工具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已核实的定位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与本项目的差别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Freightos、亚马逊 AGL、5688 运价 API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提供结构化报价或订舱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包税条款只写在自由文本里，不做条款审计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Flexport MCP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大模型助手查询自家运价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只覆盖自家运价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CostClaw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报价归一与发票审核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面向英文海运进口商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通用大模型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能读中文报价并回答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给不出可复算的成本、原文出处与证据状态（即对照组 M0）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运价明镜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中文多模态报价审计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核价、包税合理性、资质证据、出处核对、拒答与追问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系统架构：大模型负责理解，程序负责计算与判定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7</a:t>
            </a:r>
          </a:p>
        </p:txBody>
      </p:sp>
      <p:pic>
        <p:nvPicPr>
          <p:cNvPr id="5" name="Picture 4" descr="fig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299" y="1188720"/>
            <a:ext cx="8259096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关键技术一：抽取有出处，复核找冲突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合成示例　8</a:t>
            </a:r>
          </a:p>
        </p:txBody>
      </p:sp>
      <p:pic>
        <p:nvPicPr>
          <p:cNvPr id="5" name="Picture 4" descr="02-fie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486400" cy="3429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6" name="Picture 5" descr="03-conflic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1325880"/>
            <a:ext cx="5486400" cy="3429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字段抽取与原文出处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4800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冲突与缺口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11094415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每份报价抽取 18 个条款，每个条款附原文片段；片段不是原文子串的条款降为缺失</a:t>
            </a:r>
          </a:p>
          <a:p>
            <a:pPr algn="l" marL="201168" indent="-201168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另一家模型独立抽取全部报价，两次取值不同记为冲突。开发集预试验中，含风险的 14 个报价有 11 个因首次抽取漏抽而未触发风险条件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关键技术二：确定性核价与风险门控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515258" cy="4846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确定性核价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3058058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计费重：每箱取实重、体积重、单箱最低计费重的最大值，按步长进位后求和，再与整票最低计费重取大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成本 = 运费 + 附加费 + 关税 + MPF（海运加 HMF）+ 报关费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查验费等或然费用单列为风险敞口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Python 与 Excel 两套实现交叉核对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325880"/>
            <a:ext cx="3515258" cy="4846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6818" y="150876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包税合理性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6818" y="1984248"/>
            <a:ext cx="3058058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税费下限 =（关税 + MPF，海运加 HMF）÷ 整票计费重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包税单价低于税费下限：高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低于税费下限加不包税运价参照下限：需核实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标出风险时列出应索要的单证：IOR 名称、CBP 7501、ISF 申报确认、申报价值发票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7796" y="1325880"/>
            <a:ext cx="3515258" cy="4846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6396" y="150876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资质证据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396" y="1984248"/>
            <a:ext cx="3058058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宣称与登记库查询快照比对：FMC OTI 名单、海关企业信用公示平台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四种状态：有证据、证据不足、与宣称矛盾、与本次运输不相关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空运援引海运执照、认证主体与报价主体不一致，记为不相关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关键技术三：信息不足时拒答并追问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合成示例　10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35331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可行集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73736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满足时效、可送达、包税风险不为高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4203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最低确定成本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26079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在可行集内取确定到仓成本最低者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749039"/>
            <a:ext cx="502920" cy="50292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49039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3075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取值网格检验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1480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缺失或冲突条款逐值代入，例如计泡系数取 5000 或 6000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19472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推荐或追问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30352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最优解会改变时不推荐，生成可直接发给货代的追问清单</a:t>
            </a:r>
          </a:p>
        </p:txBody>
      </p:sp>
      <p:pic>
        <p:nvPicPr>
          <p:cNvPr id="21" name="Picture 20" descr="06-pass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59" y="1796510"/>
            <a:ext cx="6248095" cy="390505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两套评测集：真实报价集与反事实任务集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11</a:t>
            </a:r>
          </a:p>
        </p:txBody>
      </p:sp>
      <p:pic>
        <p:nvPicPr>
          <p:cNvPr id="5" name="Picture 4" descr="fig3_data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786384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371600"/>
            <a:ext cx="2956255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真实报价集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10 份公开原件、7 个发布主体，28 个报价单元（货代 22，承运商 6）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反事实任务集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72 个任务，四层难度；开发集 24 个只用于调试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测试集 48 个，用独立模板，提示词冻结后生成并记录哈希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标准答案由两套独立计算器给出，差额不超过 0.01 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真实报价集的标签经人工全量审定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12</a:t>
            </a:r>
          </a:p>
        </p:txBody>
      </p:sp>
      <p:pic>
        <p:nvPicPr>
          <p:cNvPr id="5" name="Picture 4" descr="fig4_annot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804" y="1188720"/>
            <a:ext cx="8150086" cy="3749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5120640"/>
            <a:ext cx="11094415" cy="109728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5230368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盲标子集：裁决人对两份初标各自的逐字段改正率（改正字段数 / 270）　</a:t>
            </a:r>
            <a:r>
              <a:rPr sz="15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其余 13 个单元：标注人 A 复核改正字段数 / 字段总数　</a:t>
            </a:r>
            <a:r>
              <a:rPr sz="15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方法阶梯：逐级加组件，看每一层的作用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13</a:t>
            </a:r>
          </a:p>
        </p:txBody>
      </p:sp>
      <p:pic>
        <p:nvPicPr>
          <p:cNvPr id="5" name="Picture 4" descr="fig2_method_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911095"/>
            <a:ext cx="6400800" cy="358444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23759" y="1371600"/>
          <a:ext cx="4419295" cy="32004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868680"/>
                <a:gridCol w="355061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档位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模型（服务商）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强模型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DeepSeek-V4-Pro（DeepSeek 官方）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/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qwen3.8-max-0902（阿里云百炼）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/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GLM-5.3（硅基流动）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/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Kimi-K2.6（硅基流动）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低成本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deepseek-flash（DeepSeek 官方）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/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qwen-plus（阿里云百炼）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23759" y="4846320"/>
            <a:ext cx="44192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另设 deepseek-flash 开启思考的 M1 组，对应卖家在网页端开启深度思考的用法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实验在冻结协议下执行，主终点事前指定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6675120" cy="347472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737360"/>
                <a:gridCol w="2331720"/>
                <a:gridCol w="2606040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实验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问题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主要指标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E1 报价理解与核价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能否算对到仓成本并作出正确决策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决策正确率、字段与出处准确率、核价误差、决策遗憾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E2 风险与证据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能否识别隐性费用、包税风险和无依据宣称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风险项检出 micro-F1、包税风险精确率与召回率、证据状态准确率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E3 复核机制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选择性复核值不值得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复核比例、纠错数量、决策正确率与成本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498079" y="1371600"/>
            <a:ext cx="4144975" cy="34747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508760"/>
            <a:ext cx="3687775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三个主终点（Holm 族，α = 0.05）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① 决策正确率：M4 对 M0，非显式 36 个任务，置换检验，双侧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② 风险检出 micro-F1：M4 对 M0，48 个任务，置换检验，双侧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③ 低成本档 M4 对同厂商强模型档 M0：非劣效界值 −5 个百分点，整簇 bootstrap，单侧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其余比较只作描述，给 95% 置信区间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冻结协议 sha256：29a08030…37ac8（docs/protocol/冻结记录.md），冻结于 2026-10-11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冻结后的偏离逐条列在 docs/protocol/偏离记录.md，共 9 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项目实施：排期、分工与资源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10-09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19" y="141732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方案定稿、数据结构、参数快照与两套计算器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13432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10-10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313432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真实报价单元整理、任务生成与渲染、M0–M4 实现、预试验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9544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10-11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3209544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冻结协议并生成测试集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05656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10-12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19" y="4105656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启动正式实验；真实报价集审定与复核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01768"/>
            <a:ext cx="1005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其后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500176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评分、报告、演示与视频；完成日期〔待正式结果〕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79" y="1325880"/>
            <a:ext cx="4602175" cy="26517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79" y="1508760"/>
            <a:ext cx="41449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分工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79" y="1984248"/>
            <a:ext cx="414497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项目负责人：方案、实验协议与结果解读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新队友（标注人 A）：13 个单元逐字段复核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整理原件的队友：真实报价采集、匿名化、盲标子集全量审定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编码、测试与实验执行在 Claude Code 中完成，提交前独立审查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79" y="4206240"/>
            <a:ext cx="4602175" cy="196596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79" y="4389120"/>
            <a:ext cx="414497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资源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4846320"/>
            <a:ext cx="41449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3 家国内服务商、6 个模型配置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预算上限 300 元，实际支出　</a:t>
            </a:r>
            <a:r>
              <a:rPr sz="14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4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代码测试　</a:t>
            </a:r>
            <a:r>
              <a:rPr sz="1400" b="0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E1 决策正确率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标题定稿时按事前决策规则选用结论句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合成任务估算　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73152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67665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分层柱状图：四层 × M0–M4，误差线为 95% CI（灰度）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554480"/>
            <a:ext cx="350489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783080"/>
            <a:ext cx="2956255" cy="1645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主终点 1：M4 − M0 差值与 Holm 校正后 p 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3931920"/>
            <a:ext cx="3504895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4160520"/>
            <a:ext cx="2956255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拒答率与误拒率；决策遗憾（元/票与占最优成本比例）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E2 风险与证据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标题定稿时按事前决策规则选用结论句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合成任务估算　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9377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风险项检出 micro-F1：M0–M4，6 个配置合并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554480"/>
            <a:ext cx="5333695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79" y="1783080"/>
            <a:ext cx="4785055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隐性费用召回率、冲突与缺口 F1、包税风险精确率与召回率、资质证据状态准确率、无依据宣称采纳率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成本：低成本模型加系统对比强模型直接使用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标题定稿时按事前决策规则选用结论句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合成任务估算　18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8521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散点图：横轴每次审计调用成本（元），纵轴决策正确率；6 个配置 × M0、M4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59" y="1554480"/>
            <a:ext cx="441929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783080"/>
            <a:ext cx="3870655" cy="16459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主终点 3：两对差值均值、单侧 95% 下界、界值 −5 个百分点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59" y="3931920"/>
            <a:ext cx="4419295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4160520"/>
            <a:ext cx="3870655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每次审计 token、费用、时延；每百票多付金额及其口径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真实报价集：抽取与缺口识别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标题定稿时按事前决策规则选用结论句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真实数据　19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8521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按配置的字段准确率与出处准确率，按原件整簇 bootstrap 的 95% CI；承运商公布价单列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59" y="1554480"/>
            <a:ext cx="4419295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783080"/>
            <a:ext cx="3870655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按条款的错误分布；用于提炼费用结构的单元与未用过的单元分开报告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E3 与消融：每一层带来了什么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逐级差值为次要结果，只作描述，给 95% 置信区间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合成任务估算　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64008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585216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消融阶梯：M0 → M4 每一步的决策正确率与 micro-F1 增量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59" y="1554480"/>
            <a:ext cx="4419295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783080"/>
            <a:ext cx="3870655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8C1D18"/>
                </a:solidFill>
                <a:latin typeface="Noto Serif CJK SC"/>
                <a:ea typeface="Noto Serif CJK SC"/>
                <a:cs typeface="Noto Serif CJK SC"/>
              </a:rPr>
              <a:t>〔待正式结果〕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E3：全部复核与只复核触发报价的复核比例、纠错数量、决策正确率与成本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总结、局限与展望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3515258" cy="4846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3058058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可运行的审计系统（演示见视频）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可复算的评测集与生成器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冻结协议与全部原始记录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4338218" y="1325880"/>
            <a:ext cx="3515258" cy="4846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6818" y="150876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局限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6818" y="1984248"/>
            <a:ext cx="3058058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决策类成效来自合成任务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真实报价集 28 个单元，原件为网页正文与 PDF，没有图片原件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盲标子集初标由 OpenAI Codex 生成、人工全量审定（偏离记录第 1 条）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计费重只支持单一进位步长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资质证据依赖人工查询的登记库快照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税率为 2026-10-09 快照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27796" y="1325880"/>
            <a:ext cx="3515258" cy="48463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6396" y="1508760"/>
            <a:ext cx="305805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展望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6396" y="1984248"/>
            <a:ext cx="3058058" cy="4023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接入卖家 ERP 与货代比价平台作审核模块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税率与承运商规则按周更新快照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扩展到欧盟头程、海外仓尾程与更多渠道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收集卖家试用记录检验实际节省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备用 B1　评委追问与回答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B1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4415" cy="493776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3291840"/>
                <a:gridCol w="6796735"/>
                <a:gridCol w="10058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追问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回答要点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见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这不就是运费计算器吗？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计算器只是 M2；M3、M4 相对 M2 的增量是理解条款和识别风险的价值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20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数据是自己编的吧？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真实报价集来自公开价格页；反事实集费用结构取自真实报价和官方规则，测试集在提示词冻结后生成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11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规则由你们定义，M4 又内置同一规则？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M1 拿到同样的规则、参数快照和调试轮数；测试集模板与开发集分离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13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能判断货代违法吗？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不判断，只标出不一致之处并列出应索要的单证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9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关税变化这么快怎么跟上？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税率是带日期的参数快照，按报价日期选用，可以替换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5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模型更新后能复现吗？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记录模型名、服务商、日期、参数、提示词哈希和原始响应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14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数据合规怎么处理？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报价不含个人信息；可接国内服务商或本地部署模型；货代名称匿名化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7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有没有用户？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对照组 M0 就是卖家现在的做法；真实报价集来自市场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第 3 页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备用 B2　参数快照：四类商品的合计税率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B2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74320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2103120"/>
                <a:gridCol w="2103120"/>
                <a:gridCol w="1463040"/>
                <a:gridCol w="2651760"/>
                <a:gridCol w="1463040"/>
                <a:gridCol w="1310335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商品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HTS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MFN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原 301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新 301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合计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棉制 T 恤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6109.10.00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16.5%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清单 4A，7.5%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12.5%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36.5%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塑料手机壳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3926.90.99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5.3%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清单 4A，7.5%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12.5%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25.3%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化纤旅行袋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4202.92.3131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17.6%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清单 3，25%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12.5%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55.1%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玩具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9503.00.00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免税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清单 4B，已暂停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12.5%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12.5%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来源：USITC HTS 2026 Rev 20；选品避开 232 商品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备用 B3　事前决策规则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B3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1094415" cy="4608576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4937760"/>
                <a:gridCol w="6156655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情况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处理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主终点 1 经 Holm 校正后不显著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主张收窄为“风险识别与追问”，决策正确率照实报告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主终点 2 经 Holm 校正后不显著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主张收窄为“核价与决策”，风险检出照实报告并做错误类型分析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主终点 3 未达到非劣效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成本主张改为“每个正确决策的调用成本”对比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M0 显式层决策正确率 ≥ 90%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成效一节以非显式三层和真实报价集为主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M4 对 M2 核价绝对误差差值的 95% CI 包含 0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核价改进照实写，系统增量归于风险识别与追问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M4 风险标记精确率 &lt; 0.7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报告精确率与召回率的权衡，给出阈值选择依据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M1 思考组正确率点估计 ≥ M4（deepseek-flash）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主张改为 M4 在成本、时延和可核对出处上的优势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真实报价集字段准确率 &lt; 0.8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照实报告并分析错误类型，作为改进方向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备用 B4　统计细节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B4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94415" cy="2286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54480"/>
            <a:ext cx="1054577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置换检验以任务为单位，同一任务在 6 个配置中的方法标签一起交换</a:t>
            </a:r>
          </a:p>
          <a:p>
            <a:pPr algn="l" marL="201168" indent="-201168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任务数超过 16 时蒙特卡洛 99,999 次；bootstrap 9,999 次；种子 20261011</a:t>
            </a:r>
          </a:p>
          <a:p>
            <a:pPr algn="l" marL="201168" indent="-201168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主终点 3 以按任务整簇 bootstrap 为主检验，Tango 检验为敏感性分析</a:t>
            </a:r>
          </a:p>
          <a:p>
            <a:pPr algn="l" marL="201168" indent="-201168">
              <a:lnSpc>
                <a:spcPct val="115000"/>
              </a:lnSpc>
              <a:spcAft>
                <a:spcPts val="8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调用失败按决策错误、风险未检出计，失败数按配置与方法列表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备用 B5　实验规模与费用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B5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834640"/>
        </p:xfrm>
        <a:graphic>
          <a:graphicData uri="http://schemas.openxmlformats.org/drawingml/2006/table">
            <a:tbl>
              <a:tblPr firstRow="1" bandRow="0">
                <a:tableStyleId>{5940675A-B579-460E-94D1-54222C63F5DA}</a:tableStyleId>
              </a:tblPr>
              <a:tblGrid>
                <a:gridCol w="1920240"/>
                <a:gridCol w="3566160"/>
                <a:gridCol w="1554480"/>
                <a:gridCol w="1554480"/>
                <a:gridCol w="249905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服务商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配置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请求数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token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实际支出（千问为折算）</a:t>
                      </a:r>
                    </a:p>
                  </a:txBody>
                  <a:tcPr marL="73152" marR="73152" marT="36576" marB="36576" anchor="ctr">
                    <a:solidFill>
                      <a:srgbClr val="F3F3F3"/>
                    </a:solidFill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DeepSeek 官方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ds_pro、ds_flash、ds_flash_think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阿里云百炼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qwen_max、qwen_plus、qwen_vl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硅基流动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glm、glm_v、kimi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合计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1A1A1A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预算上限 300 元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8C1D18"/>
                          </a:solidFill>
                          <a:latin typeface="Noto Serif CJK SC"/>
                          <a:ea typeface="Noto Serif CJK SC"/>
                          <a:cs typeface="Noto Serif CJK SC"/>
                        </a:rPr>
                        <a:t>〔待正式结果〕</a:t>
                      </a:r>
                    </a:p>
                  </a:txBody>
                  <a:tcPr marL="73152" marR="73152" marT="36576" marB="36576" anchor="ctr">
                    <a:noFill/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 i="0">
                <a:solidFill>
                  <a:srgbClr val="1A1A1A"/>
                </a:solidFill>
                <a:latin typeface="Noto Serif CJK SC"/>
                <a:ea typeface="Noto Serif CJK SC"/>
                <a:cs typeface="Noto Serif CJK SC"/>
              </a:rPr>
              <a:t>备用 B6　演示截图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运价明镜 QuoteGuard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 i="0">
                <a:solidFill>
                  <a:srgbClr val="5F5F5F"/>
                </a:solidFill>
                <a:latin typeface="Noto Serif CJK SC"/>
                <a:ea typeface="Noto Serif CJK SC"/>
                <a:cs typeface="Noto Serif CJK SC"/>
              </a:rPr>
              <a:t>合成示例　B6</a:t>
            </a:r>
          </a:p>
        </p:txBody>
      </p:sp>
      <p:pic>
        <p:nvPicPr>
          <p:cNvPr id="5" name="Picture 4" descr="01-in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05591"/>
            <a:ext cx="3576218" cy="223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6" name="Picture 5" descr="02-fiel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738" y="1305591"/>
            <a:ext cx="3576218" cy="223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7" name="Picture 6" descr="03-confli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836" y="1305591"/>
            <a:ext cx="3576218" cy="223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8" name="Picture 7" descr="04-g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65911"/>
            <a:ext cx="3576218" cy="223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9" name="Picture 8" descr="05-co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7738" y="3865911"/>
            <a:ext cx="3576218" cy="223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0" name="Picture 9" descr="06-passpo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6836" y="3865911"/>
            <a:ext cx="3576218" cy="223513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运价明镜：跨境头程报价智能审计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